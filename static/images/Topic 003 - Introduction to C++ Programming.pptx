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66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59" r:id="rId12"/>
    <p:sldId id="293" r:id="rId13"/>
    <p:sldId id="29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2" r:id="rId37"/>
    <p:sldId id="289" r:id="rId38"/>
    <p:sldId id="290" r:id="rId39"/>
    <p:sldId id="291" r:id="rId40"/>
  </p:sldIdLst>
  <p:sldSz cx="9144000" cy="6858000" type="screen4x3"/>
  <p:notesSz cx="9872663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1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80808"/>
    <a:srgbClr val="EAAB00"/>
    <a:srgbClr val="0034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74" autoAdjust="0"/>
    <p:restoredTop sz="94660"/>
  </p:normalViewPr>
  <p:slideViewPr>
    <p:cSldViewPr>
      <p:cViewPr varScale="1">
        <p:scale>
          <a:sx n="65" d="100"/>
          <a:sy n="65" d="100"/>
        </p:scale>
        <p:origin x="157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2748" y="-102"/>
      </p:cViewPr>
      <p:guideLst>
        <p:guide orient="horz" pos="2142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ondi Kevin" userId="acb8b7805f2145ce" providerId="LiveId" clId="{2ED616F0-F62F-45D0-9F3C-7B8048680421}"/>
    <pc:docChg chg="custSel modSld">
      <pc:chgData name="Omondi Kevin" userId="acb8b7805f2145ce" providerId="LiveId" clId="{2ED616F0-F62F-45D0-9F3C-7B8048680421}" dt="2018-04-18T12:35:41.593" v="8"/>
      <pc:docMkLst>
        <pc:docMk/>
      </pc:docMkLst>
      <pc:sldChg chg="modSp">
        <pc:chgData name="Omondi Kevin" userId="acb8b7805f2145ce" providerId="LiveId" clId="{2ED616F0-F62F-45D0-9F3C-7B8048680421}" dt="2018-04-12T04:42:14.523" v="1" actId="313"/>
        <pc:sldMkLst>
          <pc:docMk/>
          <pc:sldMk cId="1360082004" sldId="261"/>
        </pc:sldMkLst>
        <pc:spChg chg="mod">
          <ac:chgData name="Omondi Kevin" userId="acb8b7805f2145ce" providerId="LiveId" clId="{2ED616F0-F62F-45D0-9F3C-7B8048680421}" dt="2018-04-12T04:42:14.523" v="1" actId="313"/>
          <ac:spMkLst>
            <pc:docMk/>
            <pc:sldMk cId="1360082004" sldId="261"/>
            <ac:spMk id="3" creationId="{00000000-0000-0000-0000-000000000000}"/>
          </ac:spMkLst>
        </pc:spChg>
      </pc:sldChg>
      <pc:sldChg chg="modSp">
        <pc:chgData name="Omondi Kevin" userId="acb8b7805f2145ce" providerId="LiveId" clId="{2ED616F0-F62F-45D0-9F3C-7B8048680421}" dt="2018-04-18T12:35:41.593" v="8"/>
        <pc:sldMkLst>
          <pc:docMk/>
          <pc:sldMk cId="3137069291" sldId="269"/>
        </pc:sldMkLst>
        <pc:spChg chg="mod">
          <ac:chgData name="Omondi Kevin" userId="acb8b7805f2145ce" providerId="LiveId" clId="{2ED616F0-F62F-45D0-9F3C-7B8048680421}" dt="2018-04-18T12:35:41.593" v="8"/>
          <ac:spMkLst>
            <pc:docMk/>
            <pc:sldMk cId="3137069291" sldId="269"/>
            <ac:spMk id="3" creationId="{00000000-0000-0000-0000-000000000000}"/>
          </ac:spMkLst>
        </pc:spChg>
      </pc:sldChg>
      <pc:sldChg chg="modSp">
        <pc:chgData name="Omondi Kevin" userId="acb8b7805f2145ce" providerId="LiveId" clId="{2ED616F0-F62F-45D0-9F3C-7B8048680421}" dt="2018-04-12T04:43:12.378" v="5" actId="313"/>
        <pc:sldMkLst>
          <pc:docMk/>
          <pc:sldMk cId="741159019" sldId="271"/>
        </pc:sldMkLst>
        <pc:spChg chg="mod">
          <ac:chgData name="Omondi Kevin" userId="acb8b7805f2145ce" providerId="LiveId" clId="{2ED616F0-F62F-45D0-9F3C-7B8048680421}" dt="2018-04-12T04:43:12.378" v="5" actId="313"/>
          <ac:spMkLst>
            <pc:docMk/>
            <pc:sldMk cId="741159019" sldId="271"/>
            <ac:spMk id="3" creationId="{00000000-0000-0000-0000-000000000000}"/>
          </ac:spMkLst>
        </pc:spChg>
      </pc:sldChg>
      <pc:sldChg chg="modSp">
        <pc:chgData name="Omondi Kevin" userId="acb8b7805f2145ce" providerId="LiveId" clId="{2ED616F0-F62F-45D0-9F3C-7B8048680421}" dt="2018-04-12T04:42:48.452" v="4" actId="313"/>
        <pc:sldMkLst>
          <pc:docMk/>
          <pc:sldMk cId="1037059994" sldId="295"/>
        </pc:sldMkLst>
        <pc:spChg chg="mod">
          <ac:chgData name="Omondi Kevin" userId="acb8b7805f2145ce" providerId="LiveId" clId="{2ED616F0-F62F-45D0-9F3C-7B8048680421}" dt="2018-04-12T04:42:48.452" v="4" actId="313"/>
          <ac:spMkLst>
            <pc:docMk/>
            <pc:sldMk cId="1037059994" sldId="29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225" y="0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BC529-8A55-4432-B28D-E511243068BE}" type="datetimeFigureOut">
              <a:rPr lang="en-US" smtClean="0"/>
              <a:pPr/>
              <a:t>04-Oct-2018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225" y="6456612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D083E-E1EA-4009-B49C-46BB743EC4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5405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5" y="0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BCD2F-6FCE-41AC-88E5-F9D0F5BA03A5}" type="datetimeFigureOut">
              <a:rPr lang="en-US" smtClean="0"/>
              <a:pPr/>
              <a:t>04-Oct-2018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28896"/>
            <a:ext cx="789813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5" y="6456612"/>
            <a:ext cx="4278154" cy="3398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0BD58-FD96-4E10-A465-F4C173749FF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9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60BD58-FD96-4E10-A465-F4C173749FF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48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9580"/>
            <a:ext cx="6563072" cy="1143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8178" y="6423783"/>
            <a:ext cx="5959564" cy="363517"/>
          </a:xfrm>
        </p:spPr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ppt template art-03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89"/>
          <a:stretch/>
        </p:blipFill>
        <p:spPr bwMode="auto">
          <a:xfrm>
            <a:off x="0" y="2529840"/>
            <a:ext cx="9144000" cy="432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1088215"/>
            <a:ext cx="7772400" cy="1224137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328" y="2852936"/>
            <a:ext cx="6400800" cy="57606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000000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esktop\pic3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592"/>
            <a:ext cx="9144000" cy="449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user\Desktop\ppt template art-03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89"/>
          <a:stretch/>
        </p:blipFill>
        <p:spPr bwMode="auto">
          <a:xfrm>
            <a:off x="0" y="2529840"/>
            <a:ext cx="9144000" cy="432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97152"/>
            <a:ext cx="7772400" cy="122413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348" y="6093296"/>
            <a:ext cx="6400800" cy="57606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Trebuchet MS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471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user\Desktop\pic4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1" cy="449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user\Desktop\ppt template art-03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89"/>
          <a:stretch/>
        </p:blipFill>
        <p:spPr bwMode="auto">
          <a:xfrm>
            <a:off x="0" y="2529840"/>
            <a:ext cx="9144000" cy="432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97152"/>
            <a:ext cx="7772400" cy="122413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348" y="6093296"/>
            <a:ext cx="6400800" cy="57606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Trebuchet MS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23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user\Desktop\pic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49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user\Desktop\ppt template art-03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89"/>
          <a:stretch/>
        </p:blipFill>
        <p:spPr bwMode="auto">
          <a:xfrm>
            <a:off x="0" y="2529840"/>
            <a:ext cx="9144000" cy="432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97152"/>
            <a:ext cx="7772400" cy="122413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348" y="6093296"/>
            <a:ext cx="6400800" cy="57606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Trebuchet MS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53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6900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21E1-7CEE-422E-9ACE-6E17C13AF89D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 template art2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" y="283"/>
            <a:ext cx="9143245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00306"/>
            <a:ext cx="6278579" cy="1719254"/>
          </a:xfrm>
        </p:spPr>
        <p:txBody>
          <a:bodyPr anchor="ctr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_U_UNI_COLR_REV_VT 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57488" y="1426460"/>
            <a:ext cx="3370572" cy="314554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285720" y="5945707"/>
            <a:ext cx="85725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chemeClr val="bg1"/>
                </a:solidFill>
              </a:rPr>
              <a:t>Ole </a:t>
            </a:r>
            <a:r>
              <a:rPr lang="en-US" sz="1100" dirty="0" err="1">
                <a:solidFill>
                  <a:schemeClr val="bg1"/>
                </a:solidFill>
              </a:rPr>
              <a:t>Sangale</a:t>
            </a:r>
            <a:r>
              <a:rPr lang="en-US" sz="1100" dirty="0">
                <a:solidFill>
                  <a:schemeClr val="bg1"/>
                </a:solidFill>
              </a:rPr>
              <a:t> Road, </a:t>
            </a:r>
            <a:r>
              <a:rPr lang="en-US" sz="1100" dirty="0" err="1">
                <a:solidFill>
                  <a:schemeClr val="bg1"/>
                </a:solidFill>
              </a:rPr>
              <a:t>Madaraka</a:t>
            </a:r>
            <a:r>
              <a:rPr lang="en-US" sz="1100" dirty="0">
                <a:solidFill>
                  <a:schemeClr val="bg1"/>
                </a:solidFill>
              </a:rPr>
              <a:t> Estate. PO Box 59857-00200, Nairobi, Kenya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Tel: (+254) (0)703 034000/200/300  Fax : +254 (0)20 607498 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Email: info@strathmore.edu</a:t>
            </a:r>
            <a:r>
              <a:rPr lang="en-US" sz="1100" baseline="0" dirty="0">
                <a:solidFill>
                  <a:schemeClr val="bg1"/>
                </a:solidFill>
              </a:rPr>
              <a:t>  Website: </a:t>
            </a:r>
            <a:r>
              <a:rPr lang="en-US" sz="1100" dirty="0">
                <a:solidFill>
                  <a:schemeClr val="bg1"/>
                </a:solidFill>
              </a:rPr>
              <a:t>www.strathmore.edu </a:t>
            </a:r>
            <a:endParaRPr lang="en-GB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C15C-02F0-482A-A4C5-32FCC11BE3DA}" type="datetime1">
              <a:rPr lang="en-US" smtClean="0"/>
              <a:t>04-Oct-2018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DA52-9E91-401A-8D05-13777A3D6E09}" type="datetime1">
              <a:rPr lang="en-US" smtClean="0"/>
              <a:t>04-Oct-2018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667ED-7B22-4ABE-9586-ABA1422B3570}" type="datetime1">
              <a:rPr lang="en-US" smtClean="0"/>
              <a:t>04-Oct-2018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73B3-FA66-4BC3-A8B1-3857F64CB58B}" type="datetime1">
              <a:rPr lang="en-US" smtClean="0"/>
              <a:t>04-Oct-2018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F622-70EF-44F7-8FB2-9F752B6F9F33}" type="datetime1">
              <a:rPr lang="en-US" smtClean="0"/>
              <a:t>04-Oct-2018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4C134-1A2A-4C77-92D6-3AA34C743B39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07C9-95B7-4972-AD73-3676653A4AF7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Lecture 2: C++ Programming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2870E-5B56-4C58-A740-E9D0503C64B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ppt template art-02.png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648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630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48251"/>
            <a:ext cx="971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EA3DF05E-0873-4BC4-BA63-0F11EDB28F70}" type="datetime1">
              <a:rPr lang="en-US" smtClean="0"/>
              <a:t>04-Oct-2018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71604" y="6448251"/>
            <a:ext cx="5959564" cy="363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r>
              <a:rPr lang="en-US"/>
              <a:t>Lecture 2: C++ Programming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7192" y="6448251"/>
            <a:ext cx="857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2692870E-5B56-4C58-A740-E9D0503C64B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7531168" y="6446643"/>
            <a:ext cx="3571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srgbClr val="EAAB00"/>
                </a:solidFill>
              </a:rPr>
              <a:t>|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EAAB00"/>
              </a:solidFill>
              <a:effectLst/>
              <a:uLnTx/>
              <a:uFillTx/>
              <a:latin typeface="Trebuchet MS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62" r:id="rId3"/>
    <p:sldLayoutId id="2147483663" r:id="rId4"/>
    <p:sldLayoutId id="2147483664" r:id="rId5"/>
    <p:sldLayoutId id="2147483661" r:id="rId6"/>
    <p:sldLayoutId id="2147483651" r:id="rId7"/>
    <p:sldLayoutId id="2147483660" r:id="rId8"/>
    <p:sldLayoutId id="2147483652" r:id="rId9"/>
    <p:sldLayoutId id="2147483653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sldNum="0" hdr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003478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000000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rgbClr val="000000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rgbClr val="000000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000000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000000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2276872"/>
            <a:ext cx="8208912" cy="1152128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Lecture 3: </a:t>
            </a:r>
            <a:r>
              <a:rPr lang="en-US" sz="3200" dirty="0"/>
              <a:t>C++ Programming</a:t>
            </a:r>
          </a:p>
        </p:txBody>
      </p:sp>
    </p:spTree>
    <p:extLst>
      <p:ext uri="{BB962C8B-B14F-4D97-AF65-F5344CB8AC3E}">
        <p14:creationId xmlns:p14="http://schemas.microsoft.com/office/powerpoint/2010/main" val="3140756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Typical C++ Development Environment</a:t>
            </a:r>
          </a:p>
          <a:p>
            <a:pPr lvl="0"/>
            <a:r>
              <a:rPr lang="en-US"/>
              <a:t>Integrated </a:t>
            </a:r>
            <a:r>
              <a:rPr lang="en-US" dirty="0"/>
              <a:t>Development Environment</a:t>
            </a:r>
          </a:p>
          <a:p>
            <a:pPr lvl="0"/>
            <a:r>
              <a:rPr lang="en-US" dirty="0"/>
              <a:t>Structure of a C++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465-38C8-427B-893F-2352F10C260F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2950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2132856"/>
            <a:ext cx="6563072" cy="1143000"/>
          </a:xfrm>
        </p:spPr>
        <p:txBody>
          <a:bodyPr/>
          <a:lstStyle/>
          <a:p>
            <a:r>
              <a:rPr lang="en-US" dirty="0"/>
              <a:t>Typical C++ Development Environment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6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C++ 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 in creating and executing a C++ application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Creating a Program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Preprocessing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Compiling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Linking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Loading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Execution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7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a C++ Program and save on some storage device</a:t>
            </a:r>
          </a:p>
          <a:p>
            <a:r>
              <a:rPr lang="en-US" dirty="0"/>
              <a:t>C++ source code filenames end with .</a:t>
            </a:r>
            <a:r>
              <a:rPr lang="en-US" dirty="0" err="1"/>
              <a:t>cpp</a:t>
            </a:r>
            <a:r>
              <a:rPr lang="en-US" dirty="0"/>
              <a:t>, .cxx or .C extensions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6128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the command to compile the program</a:t>
            </a:r>
          </a:p>
          <a:p>
            <a:r>
              <a:rPr lang="en-US" dirty="0"/>
              <a:t>In a C++ system, a preprocessor program executes automatically before the compiler translation begins.</a:t>
            </a:r>
          </a:p>
          <a:p>
            <a:r>
              <a:rPr lang="en-US" dirty="0"/>
              <a:t>Preprocessor executes directives which indicate certain manipulations to be performed before compilation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08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Compiler translates the C++ source code into machine language(object code)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788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programs may contain references to data and functions defined elsewhere. E.g. standard libraries, private libraries of groups of programmers working together.</a:t>
            </a:r>
          </a:p>
          <a:p>
            <a:r>
              <a:rPr lang="en-US" dirty="0"/>
              <a:t>A linker links the object code with the “missing” functions to produce an executable program.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0184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a program can be executed, it must first be placed in memory.</a:t>
            </a:r>
          </a:p>
          <a:p>
            <a:r>
              <a:rPr lang="en-US" dirty="0"/>
              <a:t>This is done by the loader. </a:t>
            </a:r>
          </a:p>
          <a:p>
            <a:r>
              <a:rPr lang="en-US" dirty="0"/>
              <a:t>Loader takes the executable program from disk and transfers it to memory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892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computer under the CPU executes the program one instruction at a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016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064" y="1268760"/>
            <a:ext cx="3384376" cy="3960440"/>
          </a:xfrm>
        </p:spPr>
        <p:txBody>
          <a:bodyPr>
            <a:normAutofit/>
          </a:bodyPr>
          <a:lstStyle/>
          <a:p>
            <a:r>
              <a:rPr lang="en-US" dirty="0"/>
              <a:t>Steps in creating and executing a C++ Program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88640"/>
            <a:ext cx="4320480" cy="635220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12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424" y="2204864"/>
            <a:ext cx="6563072" cy="1143000"/>
          </a:xfrm>
        </p:spPr>
        <p:txBody>
          <a:bodyPr/>
          <a:lstStyle/>
          <a:p>
            <a:r>
              <a:rPr lang="en-US" dirty="0"/>
              <a:t>Integrated Development Environment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308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integrated development environment is a software application that provides comprehensive facilities to computer programmers for software development. </a:t>
            </a:r>
          </a:p>
          <a:p>
            <a:r>
              <a:rPr lang="en-US" dirty="0"/>
              <a:t>An IDE normally consists of a source code editor, build automation tools and a debugger.</a:t>
            </a:r>
          </a:p>
          <a:p>
            <a:r>
              <a:rPr lang="en-US" dirty="0"/>
              <a:t>Examples: Dev-C++, Microsoft Visual Studio, Sublime, NetBeans, Eclipse, Spyder 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59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178" y="2060848"/>
            <a:ext cx="6563072" cy="1143000"/>
          </a:xfrm>
        </p:spPr>
        <p:txBody>
          <a:bodyPr/>
          <a:lstStyle/>
          <a:p>
            <a:r>
              <a:rPr lang="en-US" dirty="0"/>
              <a:t>Structure of a C++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5793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C++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C++ programs is like writing an essay in English</a:t>
            </a:r>
          </a:p>
          <a:p>
            <a:r>
              <a:rPr lang="en-US" dirty="0"/>
              <a:t>How?</a:t>
            </a:r>
          </a:p>
          <a:p>
            <a:r>
              <a:rPr lang="en-US" dirty="0"/>
              <a:t>English essays have structure.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757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program: Program to output a line of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//Hello World program in C++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"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stdafx.h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system(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"pause"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return 0;</a:t>
            </a:r>
          </a:p>
          <a:p>
            <a:pPr marL="0" indent="0">
              <a:buNone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069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//Hello World program in C++</a:t>
            </a:r>
            <a:b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single line comment in C++.</a:t>
            </a:r>
          </a:p>
          <a:p>
            <a:r>
              <a:rPr lang="en-US" dirty="0"/>
              <a:t>A single line comment always begins with //</a:t>
            </a:r>
          </a:p>
          <a:p>
            <a:r>
              <a:rPr lang="en-US" dirty="0"/>
              <a:t>The // indicates that the remainder of each line is a comment</a:t>
            </a:r>
          </a:p>
          <a:p>
            <a:r>
              <a:rPr lang="en-US" dirty="0"/>
              <a:t>Comments are added to help other people read and understand your program</a:t>
            </a:r>
          </a:p>
          <a:p>
            <a:r>
              <a:rPr lang="en-US" dirty="0"/>
              <a:t>Comments can be used anywhere in </a:t>
            </a:r>
            <a:r>
              <a:rPr lang="en-US"/>
              <a:t>the source code.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299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line comments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Multi-comments begin with /* and end with */</a:t>
            </a:r>
          </a:p>
          <a:p>
            <a:r>
              <a:rPr lang="en-US" dirty="0"/>
              <a:t>Multi line comments are used for comments containing many lines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1159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is carried out in add-on style. i.e. if something is already available you can use the same and develop further.</a:t>
            </a:r>
          </a:p>
          <a:p>
            <a:r>
              <a:rPr lang="en-US" dirty="0"/>
              <a:t>There are trillions of programs already developed by others. Why should we re-invent the wheel?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4813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plan to use the readily available programs, we have to ask the compiler to include them.</a:t>
            </a:r>
          </a:p>
          <a:p>
            <a:r>
              <a:rPr lang="en-US" dirty="0"/>
              <a:t>Actual code will be available in machine language found in built in libraries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0449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Lines beginning with a hash sign(#) are directives for the preprocessor.</a:t>
            </a:r>
          </a:p>
          <a:p>
            <a:r>
              <a:rPr lang="en-US" dirty="0"/>
              <a:t>This essentially means “read me before you compile” and do what I say</a:t>
            </a:r>
          </a:p>
          <a:p>
            <a:r>
              <a:rPr lang="en-US" dirty="0"/>
              <a:t>#include&lt;</a:t>
            </a:r>
            <a:r>
              <a:rPr lang="en-US" dirty="0" err="1"/>
              <a:t>iostream</a:t>
            </a:r>
            <a:r>
              <a:rPr lang="en-US" dirty="0"/>
              <a:t>&gt; therefore notifies the preprocessor to include in the program the contents the </a:t>
            </a:r>
            <a:r>
              <a:rPr lang="en-US" dirty="0" err="1"/>
              <a:t>iostream</a:t>
            </a:r>
            <a:r>
              <a:rPr lang="en-US" dirty="0"/>
              <a:t> library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2306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format for directives to the preprocessor is </a:t>
            </a:r>
          </a:p>
          <a:p>
            <a:pPr marL="457200" lvl="1" indent="0">
              <a:buNone/>
            </a:pPr>
            <a:r>
              <a:rPr lang="en-US" dirty="0"/>
              <a:t>#include &lt;name of the inbuilt library you want to include&gt;</a:t>
            </a:r>
          </a:p>
          <a:p>
            <a:r>
              <a:rPr lang="en-US" dirty="0"/>
              <a:t>The &lt;  and &gt; are just enclosures for the compiler to read between and import accordingly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17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#include &lt;</a:t>
            </a:r>
            <a:r>
              <a:rPr lang="en-US" dirty="0" err="1"/>
              <a:t>iostream</a:t>
            </a:r>
            <a:r>
              <a:rPr lang="en-US" dirty="0"/>
              <a:t>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command therefore tells the compiler to include the </a:t>
            </a:r>
            <a:r>
              <a:rPr lang="en-US" dirty="0" err="1"/>
              <a:t>iostream</a:t>
            </a:r>
            <a:r>
              <a:rPr lang="en-US" dirty="0"/>
              <a:t> library</a:t>
            </a:r>
          </a:p>
          <a:p>
            <a:r>
              <a:rPr lang="en-US" dirty="0"/>
              <a:t>The </a:t>
            </a:r>
            <a:r>
              <a:rPr lang="en-US" dirty="0" err="1"/>
              <a:t>iostream</a:t>
            </a:r>
            <a:r>
              <a:rPr lang="en-US" dirty="0"/>
              <a:t> library must be included for any program that outputs data to the monitor or inputs data from the keyboard using C++’s </a:t>
            </a:r>
            <a:r>
              <a:rPr lang="en-US" dirty="0" err="1"/>
              <a:t>stram</a:t>
            </a:r>
            <a:r>
              <a:rPr lang="en-US" dirty="0"/>
              <a:t> input/output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654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Namespaces are like drawers in a filing cabinet.</a:t>
            </a:r>
          </a:p>
          <a:p>
            <a:r>
              <a:rPr lang="en-US" dirty="0"/>
              <a:t>These drawers contain names/terms that we will use in writing our programs.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1695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601"/>
            <a:ext cx="6563072" cy="1143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“using” directive</a:t>
            </a:r>
            <a:b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directive tells the compiler that the subsequent code is making use of names in the specified namespace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/>
              <a:t>In this case the namespace is </a:t>
            </a:r>
            <a:r>
              <a:rPr lang="en-US" dirty="0" err="1"/>
              <a:t>std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std</a:t>
            </a:r>
            <a:r>
              <a:rPr lang="en-US" dirty="0"/>
              <a:t> namespace includes C++ input/output names </a:t>
            </a:r>
            <a:r>
              <a:rPr lang="en-US" dirty="0" err="1"/>
              <a:t>cout</a:t>
            </a:r>
            <a:r>
              <a:rPr lang="en-US" dirty="0"/>
              <a:t> and </a:t>
            </a:r>
            <a:r>
              <a:rPr lang="en-US" dirty="0" err="1"/>
              <a:t>cin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8080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semicolon depicts the end of a statement</a:t>
            </a:r>
          </a:p>
          <a:p>
            <a:r>
              <a:rPr lang="en-US" dirty="0"/>
              <a:t>What is a statement?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2920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programming statement is the smallest independent unit in a program, just like a sentence in the English language.</a:t>
            </a:r>
          </a:p>
          <a:p>
            <a:r>
              <a:rPr lang="en-US" dirty="0"/>
              <a:t>It performs a piece of programming action</a:t>
            </a:r>
          </a:p>
          <a:p>
            <a:r>
              <a:rPr lang="en-US" dirty="0"/>
              <a:t>A programming statement must be terminated by a semi-colon (;), just like an English sentence ends with a period.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005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not end statements with a period like in English?</a:t>
            </a:r>
          </a:p>
          <a:p>
            <a:r>
              <a:rPr lang="en-US" dirty="0"/>
              <a:t>Because the period clashes with decimal point- it is hard for the computer to differentiate between a period and decimal point.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9542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main()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program begins running, the system calls the function main, which marks the entry point of the program.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3252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main()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line initiates the declaration of a function. Essentially, a function is a group of code statements which are given a name. </a:t>
            </a:r>
          </a:p>
          <a:p>
            <a:r>
              <a:rPr lang="en-US" dirty="0"/>
              <a:t>In this case, this gives the name “main” to the group of code statements that follow.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7896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main()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will be discussed in detail later, but essentially their definition is introduced with a succession of a type (int ), a name (main) and a pair of parentheses().</a:t>
            </a:r>
          </a:p>
          <a:p>
            <a:pPr marL="0" indent="0">
              <a:buNone/>
            </a:pPr>
            <a:endParaRPr lang="en-U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170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main()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 named main is a special function in all C++ programs.</a:t>
            </a:r>
          </a:p>
          <a:p>
            <a:r>
              <a:rPr lang="en-US" dirty="0"/>
              <a:t>It is the function that is called when the program is run.</a:t>
            </a:r>
          </a:p>
          <a:p>
            <a:r>
              <a:rPr lang="en-US" dirty="0"/>
              <a:t>The execution of all C++ programs begins with the main function regardless of where the function is actually located within the code.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1281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standard output stream</a:t>
            </a:r>
          </a:p>
          <a:p>
            <a:r>
              <a:rPr lang="en-US" dirty="0"/>
              <a:t>Used to display output to the user</a:t>
            </a:r>
          </a:p>
          <a:p>
            <a:r>
              <a:rPr lang="en-US" dirty="0"/>
              <a:t>This name belongs to the namespace </a:t>
            </a:r>
            <a:r>
              <a:rPr lang="en-US" dirty="0" err="1"/>
              <a:t>std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35283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&lt;&lt;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Referred to as the stream insertion operator</a:t>
            </a:r>
          </a:p>
          <a:p>
            <a:r>
              <a:rPr lang="en-US" dirty="0"/>
              <a:t>The right operand’s characters normally print exactly as they appear between the double quotes.</a:t>
            </a:r>
          </a:p>
          <a:p>
            <a:pPr marL="0" indent="0">
              <a:buNone/>
            </a:pP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"Hello World"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does this line end with a semi-colon?</a:t>
            </a:r>
          </a:p>
          <a:p>
            <a:pPr marL="0" indent="0">
              <a:buNone/>
            </a:pPr>
            <a:r>
              <a:rPr lang="en-US" dirty="0"/>
              <a:t>What is the output of this code if run?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0687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(“pause”);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freeze the console on the monitor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033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0;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Required to show that the function main completed successfully.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2872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our Hello World program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524" y="1302580"/>
            <a:ext cx="7136827" cy="439652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281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C++ program that will output the following statement:</a:t>
            </a:r>
          </a:p>
          <a:p>
            <a:pPr marL="457200" lvl="1" indent="0">
              <a:buNone/>
            </a:pPr>
            <a:r>
              <a:rPr lang="en-US" dirty="0"/>
              <a:t>Happy New Year 2019</a:t>
            </a:r>
          </a:p>
          <a:p>
            <a:pPr marL="457200" lvl="1" indent="0">
              <a:buNone/>
            </a:pPr>
            <a:endParaRPr lang="fr-BE" dirty="0"/>
          </a:p>
          <a:p>
            <a:pPr marL="514350" indent="-457200"/>
            <a:r>
              <a:rPr lang="en-US" dirty="0"/>
              <a:t>Write a C++ program that will request the user to enter his/her full name and greet them. </a:t>
            </a:r>
            <a:r>
              <a:rPr lang="en-US" dirty="0" err="1"/>
              <a:t>E.g</a:t>
            </a:r>
            <a:r>
              <a:rPr lang="en-US" dirty="0"/>
              <a:t>:</a:t>
            </a:r>
          </a:p>
          <a:p>
            <a:pPr marL="914400" lvl="1" indent="-457200"/>
            <a:r>
              <a:rPr lang="fr-BE" dirty="0"/>
              <a:t>H</a:t>
            </a:r>
            <a:r>
              <a:rPr lang="en-US" dirty="0" err="1"/>
              <a:t>ello</a:t>
            </a:r>
            <a:r>
              <a:rPr lang="en-US" dirty="0"/>
              <a:t> Alex </a:t>
            </a:r>
            <a:r>
              <a:rPr lang="en-US" dirty="0" err="1"/>
              <a:t>Okama</a:t>
            </a:r>
            <a:r>
              <a:rPr lang="en-US" dirty="0"/>
              <a:t>!!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67390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will output the following statement:</a:t>
            </a:r>
          </a:p>
          <a:p>
            <a:pPr marL="457200" lvl="1" indent="0">
              <a:buNone/>
            </a:pPr>
            <a:r>
              <a:rPr lang="en-US" dirty="0"/>
              <a:t>Welcome to the wonderful world of C++!!!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F8394-2CD6-45DA-8775-467057D9C0BB}" type="datetime1">
              <a:rPr lang="en-US" smtClean="0"/>
              <a:t>04-Oct-2018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Lecture 2: C++ Programming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374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rathmore University">
      <a:dk1>
        <a:srgbClr val="003478"/>
      </a:dk1>
      <a:lt1>
        <a:sysClr val="window" lastClr="FFFFFF"/>
      </a:lt1>
      <a:dk2>
        <a:srgbClr val="003478"/>
      </a:dk2>
      <a:lt2>
        <a:srgbClr val="EEECE1"/>
      </a:lt2>
      <a:accent1>
        <a:srgbClr val="4F81BD"/>
      </a:accent1>
      <a:accent2>
        <a:srgbClr val="CD202C"/>
      </a:accent2>
      <a:accent3>
        <a:srgbClr val="EAAB00"/>
      </a:accent3>
      <a:accent4>
        <a:srgbClr val="00B0F0"/>
      </a:accent4>
      <a:accent5>
        <a:srgbClr val="8DB3E2"/>
      </a:accent5>
      <a:accent6>
        <a:srgbClr val="7A0404"/>
      </a:accent6>
      <a:hlink>
        <a:srgbClr val="00B0F0"/>
      </a:hlink>
      <a:folHlink>
        <a:srgbClr val="95B3D7"/>
      </a:folHlink>
    </a:clrScheme>
    <a:fontScheme name="Custom 2">
      <a:majorFont>
        <a:latin typeface="Andalus"/>
        <a:ea typeface=""/>
        <a:cs typeface=""/>
      </a:majorFont>
      <a:minorFont>
        <a:latin typeface="Andalu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1449</Words>
  <Application>Microsoft Office PowerPoint</Application>
  <PresentationFormat>On-screen Show (4:3)</PresentationFormat>
  <Paragraphs>213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Andalus</vt:lpstr>
      <vt:lpstr>Arial</vt:lpstr>
      <vt:lpstr>Calibri</vt:lpstr>
      <vt:lpstr>Consolas</vt:lpstr>
      <vt:lpstr>Trebuchet MS</vt:lpstr>
      <vt:lpstr>Office Theme</vt:lpstr>
      <vt:lpstr>Lecture 3: C++ Programming</vt:lpstr>
      <vt:lpstr>Outline</vt:lpstr>
      <vt:lpstr>Typical C++ Development Environment</vt:lpstr>
      <vt:lpstr>Typical C++ Development Environment</vt:lpstr>
      <vt:lpstr>Creating a Program</vt:lpstr>
      <vt:lpstr>Preprocessing</vt:lpstr>
      <vt:lpstr>Compiling</vt:lpstr>
      <vt:lpstr>Linking</vt:lpstr>
      <vt:lpstr>Loading</vt:lpstr>
      <vt:lpstr>Execution</vt:lpstr>
      <vt:lpstr>Steps in creating and executing a C++ Program</vt:lpstr>
      <vt:lpstr>Integrated Development Environment</vt:lpstr>
      <vt:lpstr>Integrated Development Environment</vt:lpstr>
      <vt:lpstr>Structure of a C++ Program</vt:lpstr>
      <vt:lpstr>Writing C++ Programs</vt:lpstr>
      <vt:lpstr>Example program: Program to output a line of text</vt:lpstr>
      <vt:lpstr>//Hello World program in C++ </vt:lpstr>
      <vt:lpstr>Multi line comments in C++</vt:lpstr>
      <vt:lpstr>#include &lt;iostream&gt;</vt:lpstr>
      <vt:lpstr>#include &lt;iostream&gt;</vt:lpstr>
      <vt:lpstr>#</vt:lpstr>
      <vt:lpstr>#</vt:lpstr>
      <vt:lpstr>#include &lt;iostream&gt;</vt:lpstr>
      <vt:lpstr>using namespace std; </vt:lpstr>
      <vt:lpstr>“using” directive </vt:lpstr>
      <vt:lpstr>using namespace std; </vt:lpstr>
      <vt:lpstr>Statements in C++</vt:lpstr>
      <vt:lpstr>Statements in C++</vt:lpstr>
      <vt:lpstr>int main()</vt:lpstr>
      <vt:lpstr>int main()</vt:lpstr>
      <vt:lpstr>int main()</vt:lpstr>
      <vt:lpstr>int main()</vt:lpstr>
      <vt:lpstr>cout</vt:lpstr>
      <vt:lpstr>&lt;&lt;</vt:lpstr>
      <vt:lpstr>System (“pause”);</vt:lpstr>
      <vt:lpstr>return 0;</vt:lpstr>
      <vt:lpstr>Output of our Hello World program</vt:lpstr>
      <vt:lpstr>Class Exercise</vt:lpstr>
      <vt:lpstr>Class Exercise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tony</dc:creator>
  <cp:lastModifiedBy>Benjamin Mundama</cp:lastModifiedBy>
  <cp:revision>176</cp:revision>
  <cp:lastPrinted>2018-09-27T14:37:35Z</cp:lastPrinted>
  <dcterms:created xsi:type="dcterms:W3CDTF">2010-10-06T05:06:07Z</dcterms:created>
  <dcterms:modified xsi:type="dcterms:W3CDTF">2018-10-04T15:31:33Z</dcterms:modified>
</cp:coreProperties>
</file>